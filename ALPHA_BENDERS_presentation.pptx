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63" r:id="rId3"/>
    <p:sldId id="265" r:id="rId4"/>
    <p:sldId id="264" r:id="rId5"/>
    <p:sldId id="260" r:id="rId6"/>
    <p:sldId id="256" r:id="rId7"/>
    <p:sldId id="259" r:id="rId8"/>
    <p:sldId id="261" r:id="rId9"/>
    <p:sldId id="258" r:id="rId10"/>
    <p:sldId id="262" r:id="rId11"/>
    <p:sldId id="266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66003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 varScale="1">
        <p:scale>
          <a:sx n="70" d="100"/>
          <a:sy n="70" d="100"/>
        </p:scale>
        <p:origin x="738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29AC2D-143C-411D-BBAB-3727876BD384}" type="datetimeFigureOut">
              <a:rPr lang="en-US" smtClean="0"/>
              <a:t>12/14/2025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188A45-53DF-4213-9252-32286D13E0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232397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29AC2D-143C-411D-BBAB-3727876BD384}" type="datetimeFigureOut">
              <a:rPr lang="en-US" smtClean="0"/>
              <a:t>12/14/2025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188A45-53DF-4213-9252-32286D13E0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180491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29AC2D-143C-411D-BBAB-3727876BD384}" type="datetimeFigureOut">
              <a:rPr lang="en-US" smtClean="0"/>
              <a:t>12/14/2025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188A45-53DF-4213-9252-32286D13E0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062837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29AC2D-143C-411D-BBAB-3727876BD384}" type="datetimeFigureOut">
              <a:rPr lang="en-US" smtClean="0"/>
              <a:t>12/14/2025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188A45-53DF-4213-9252-32286D13E0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667012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29AC2D-143C-411D-BBAB-3727876BD384}" type="datetimeFigureOut">
              <a:rPr lang="en-US" smtClean="0"/>
              <a:t>12/14/2025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188A45-53DF-4213-9252-32286D13E0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101362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29AC2D-143C-411D-BBAB-3727876BD384}" type="datetimeFigureOut">
              <a:rPr lang="en-US" smtClean="0"/>
              <a:t>12/14/2025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188A45-53DF-4213-9252-32286D13E0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438466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29AC2D-143C-411D-BBAB-3727876BD384}" type="datetimeFigureOut">
              <a:rPr lang="en-US" smtClean="0"/>
              <a:t>12/14/2025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188A45-53DF-4213-9252-32286D13E0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077290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29AC2D-143C-411D-BBAB-3727876BD384}" type="datetimeFigureOut">
              <a:rPr lang="en-US" smtClean="0"/>
              <a:t>12/14/2025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188A45-53DF-4213-9252-32286D13E0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254908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29AC2D-143C-411D-BBAB-3727876BD384}" type="datetimeFigureOut">
              <a:rPr lang="en-US" smtClean="0"/>
              <a:t>12/14/2025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188A45-53DF-4213-9252-32286D13E0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783526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29AC2D-143C-411D-BBAB-3727876BD384}" type="datetimeFigureOut">
              <a:rPr lang="en-US" smtClean="0"/>
              <a:t>12/14/2025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188A45-53DF-4213-9252-32286D13E0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258056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29AC2D-143C-411D-BBAB-3727876BD384}" type="datetimeFigureOut">
              <a:rPr lang="en-US" smtClean="0"/>
              <a:t>12/14/2025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188A45-53DF-4213-9252-32286D13E0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72523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6600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529AC2D-143C-411D-BBAB-3727876BD384}" type="datetimeFigureOut">
              <a:rPr lang="en-US" smtClean="0"/>
              <a:t>12/14/2025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7188A45-53DF-4213-9252-32286D13E0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787783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C97D2B-4BD6-959B-67D6-7D8C55C42C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59035" y="476165"/>
            <a:ext cx="8947052" cy="1325563"/>
          </a:xfrm>
          <a:ln w="28575">
            <a:solidFill>
              <a:schemeClr val="bg1"/>
            </a:solidFill>
            <a:prstDash val="dash"/>
          </a:ln>
        </p:spPr>
        <p:txBody>
          <a:bodyPr/>
          <a:lstStyle/>
          <a:p>
            <a:pPr algn="ctr"/>
            <a:r>
              <a:rPr lang="pt-BR" dirty="0">
                <a:solidFill>
                  <a:schemeClr val="bg1"/>
                </a:solidFill>
                <a:latin typeface="Berlin Sans FB" panose="020E0602020502020306" pitchFamily="34" charset="0"/>
              </a:rPr>
              <a:t>De Novo Antibody Design Hackathon</a:t>
            </a:r>
            <a:endParaRPr lang="en-US" dirty="0">
              <a:solidFill>
                <a:schemeClr val="bg1"/>
              </a:solidFill>
              <a:latin typeface="Berlin Sans FB" panose="020E0602020502020306" pitchFamily="34" charset="0"/>
            </a:endParaRP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405C8C93-D900-C2B1-F508-76F11327BC61}"/>
              </a:ext>
            </a:extLst>
          </p:cNvPr>
          <p:cNvSpPr txBox="1">
            <a:spLocks/>
          </p:cNvSpPr>
          <p:nvPr/>
        </p:nvSpPr>
        <p:spPr>
          <a:xfrm>
            <a:off x="3839001" y="4238746"/>
            <a:ext cx="4987120" cy="1325563"/>
          </a:xfrm>
          <a:prstGeom prst="rect">
            <a:avLst/>
          </a:prstGeom>
          <a:ln w="28575">
            <a:solidFill>
              <a:schemeClr val="bg1"/>
            </a:solidFill>
            <a:prstDash val="sysDot"/>
          </a:ln>
        </p:spPr>
        <p:txBody>
          <a:bodyPr vert="horz" lIns="91440" tIns="45720" rIns="91440" bIns="45720" rtlCol="0" anchor="ctr">
            <a:normAutofit/>
          </a:bodyPr>
          <a:lstStyle>
            <a:lvl1pPr algn="ctr">
              <a:lnSpc>
                <a:spcPct val="90000"/>
              </a:lnSpc>
              <a:spcBef>
                <a:spcPct val="0"/>
              </a:spcBef>
              <a:buNone/>
              <a:defRPr sz="4400">
                <a:solidFill>
                  <a:schemeClr val="bg1"/>
                </a:solidFill>
                <a:latin typeface="Bodoni MT" panose="02070603080606020203" pitchFamily="18" charset="0"/>
                <a:ea typeface="+mj-ea"/>
                <a:cs typeface="+mj-cs"/>
              </a:defRPr>
            </a:lvl1pPr>
          </a:lstStyle>
          <a:p>
            <a:r>
              <a:rPr lang="pt-BR" dirty="0">
                <a:latin typeface="Berlin Sans FB" panose="020E0602020502020306" pitchFamily="34" charset="0"/>
              </a:rPr>
              <a:t>Sandhya Elumalai</a:t>
            </a:r>
          </a:p>
          <a:p>
            <a:r>
              <a:rPr lang="pt-BR" dirty="0">
                <a:latin typeface="Berlin Sans FB" panose="020E0602020502020306" pitchFamily="34" charset="0"/>
              </a:rPr>
              <a:t>S Varsha</a:t>
            </a: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3D8D4C3B-8F0C-B53B-8250-7464B5D7CE04}"/>
              </a:ext>
            </a:extLst>
          </p:cNvPr>
          <p:cNvSpPr txBox="1">
            <a:spLocks/>
          </p:cNvSpPr>
          <p:nvPr/>
        </p:nvSpPr>
        <p:spPr>
          <a:xfrm>
            <a:off x="3248035" y="2462963"/>
            <a:ext cx="6169052" cy="1325563"/>
          </a:xfrm>
          <a:prstGeom prst="rect">
            <a:avLst/>
          </a:prstGeom>
          <a:ln w="28575">
            <a:noFill/>
            <a:prstDash val="sysDot"/>
          </a:ln>
        </p:spPr>
        <p:txBody>
          <a:bodyPr vert="horz" lIns="91440" tIns="45720" rIns="91440" bIns="45720" rtlCol="0" anchor="ctr">
            <a:normAutofit/>
          </a:bodyPr>
          <a:lstStyle>
            <a:lvl1pPr algn="ctr">
              <a:lnSpc>
                <a:spcPct val="90000"/>
              </a:lnSpc>
              <a:spcBef>
                <a:spcPct val="0"/>
              </a:spcBef>
              <a:buNone/>
              <a:defRPr sz="4400">
                <a:solidFill>
                  <a:schemeClr val="bg1"/>
                </a:solidFill>
                <a:latin typeface="Bodoni MT" panose="02070603080606020203" pitchFamily="18" charset="0"/>
                <a:ea typeface="+mj-ea"/>
                <a:cs typeface="+mj-cs"/>
              </a:defRPr>
            </a:lvl1pPr>
          </a:lstStyle>
          <a:p>
            <a:r>
              <a:rPr lang="pt-BR">
                <a:latin typeface="Berlin Sans FB" panose="020E0602020502020306" pitchFamily="34" charset="0"/>
              </a:rPr>
              <a:t>ALPHA </a:t>
            </a:r>
            <a:r>
              <a:rPr lang="pt-BR" dirty="0">
                <a:latin typeface="Berlin Sans FB" panose="020E0602020502020306" pitchFamily="34" charset="0"/>
              </a:rPr>
              <a:t>BENDERS</a:t>
            </a:r>
          </a:p>
        </p:txBody>
      </p:sp>
    </p:spTree>
    <p:extLst>
      <p:ext uri="{BB962C8B-B14F-4D97-AF65-F5344CB8AC3E}">
        <p14:creationId xmlns:p14="http://schemas.microsoft.com/office/powerpoint/2010/main" val="313130468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325267-EA09-F277-0BA4-9E13E96B5F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6A65868F-2E5A-C007-680B-5690009CCB1F}"/>
              </a:ext>
            </a:extLst>
          </p:cNvPr>
          <p:cNvSpPr txBox="1"/>
          <p:nvPr/>
        </p:nvSpPr>
        <p:spPr>
          <a:xfrm>
            <a:off x="587996" y="1634256"/>
            <a:ext cx="11325497" cy="28050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400" i="1" dirty="0">
                <a:solidFill>
                  <a:schemeClr val="bg1"/>
                </a:solidFill>
                <a:latin typeface="Berlin Sans FB" panose="020E0602020502020306" pitchFamily="34" charset="0"/>
              </a:rPr>
              <a:t>PDB Preparation (</a:t>
            </a:r>
            <a:r>
              <a:rPr lang="en-US" sz="2400" i="1" dirty="0" err="1">
                <a:solidFill>
                  <a:schemeClr val="bg1"/>
                </a:solidFill>
                <a:latin typeface="Berlin Sans FB" panose="020E0602020502020306" pitchFamily="34" charset="0"/>
              </a:rPr>
              <a:t>PyMOL</a:t>
            </a:r>
            <a:r>
              <a:rPr lang="en-US" sz="2400" i="1" dirty="0">
                <a:solidFill>
                  <a:schemeClr val="bg1"/>
                </a:solidFill>
                <a:latin typeface="Berlin Sans FB" panose="020E0602020502020306" pitchFamily="34" charset="0"/>
              </a:rPr>
              <a:t>)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/>
                </a:solidFill>
                <a:latin typeface="Berlin Sans FB" panose="020E0602020502020306" pitchFamily="34" charset="0"/>
              </a:rPr>
              <a:t>Downloaded 5GSS from the PDB.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/>
                </a:solidFill>
                <a:latin typeface="Berlin Sans FB" panose="020E0602020502020306" pitchFamily="34" charset="0"/>
              </a:rPr>
              <a:t>Selected a single biological copy.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/>
                </a:solidFill>
                <a:latin typeface="Berlin Sans FB" panose="020E0602020502020306" pitchFamily="34" charset="0"/>
              </a:rPr>
              <a:t>Identified heavy chain, light chain, and antigen.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/>
                </a:solidFill>
                <a:latin typeface="Berlin Sans FB" panose="020E0602020502020306" pitchFamily="34" charset="0"/>
              </a:rPr>
              <a:t>Saved individual PDB files and corresponding FASTA sequences for each chain.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9F9BB92-E825-A62A-5341-116F8109117F}"/>
              </a:ext>
            </a:extLst>
          </p:cNvPr>
          <p:cNvSpPr txBox="1">
            <a:spLocks/>
          </p:cNvSpPr>
          <p:nvPr/>
        </p:nvSpPr>
        <p:spPr>
          <a:xfrm>
            <a:off x="3011474" y="506438"/>
            <a:ext cx="6169052" cy="815926"/>
          </a:xfrm>
          <a:prstGeom prst="rect">
            <a:avLst/>
          </a:prstGeom>
          <a:ln w="28575">
            <a:noFill/>
            <a:prstDash val="sysDot"/>
          </a:ln>
        </p:spPr>
        <p:txBody>
          <a:bodyPr vert="horz" lIns="91440" tIns="45720" rIns="91440" bIns="45720" rtlCol="0" anchor="ctr">
            <a:normAutofit/>
          </a:bodyPr>
          <a:lstStyle>
            <a:lvl1pPr algn="ctr">
              <a:lnSpc>
                <a:spcPct val="90000"/>
              </a:lnSpc>
              <a:spcBef>
                <a:spcPct val="0"/>
              </a:spcBef>
              <a:buNone/>
              <a:defRPr sz="4400">
                <a:solidFill>
                  <a:schemeClr val="bg1"/>
                </a:solidFill>
                <a:latin typeface="Bodoni MT" panose="02070603080606020203" pitchFamily="18" charset="0"/>
                <a:ea typeface="+mj-ea"/>
                <a:cs typeface="+mj-cs"/>
              </a:defRPr>
            </a:lvl1pPr>
          </a:lstStyle>
          <a:p>
            <a:r>
              <a:rPr lang="pt-BR" dirty="0">
                <a:latin typeface="Berlin Sans FB" panose="020E0602020502020306" pitchFamily="34" charset="0"/>
              </a:rPr>
              <a:t>CHALLENGE 1</a:t>
            </a:r>
          </a:p>
        </p:txBody>
      </p:sp>
    </p:spTree>
    <p:extLst>
      <p:ext uri="{BB962C8B-B14F-4D97-AF65-F5344CB8AC3E}">
        <p14:creationId xmlns:p14="http://schemas.microsoft.com/office/powerpoint/2010/main" val="330081915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7588BB-898A-110A-B434-35253BD597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4C45F8D6-A6FF-7979-4F3C-574B20A414C9}"/>
              </a:ext>
            </a:extLst>
          </p:cNvPr>
          <p:cNvSpPr txBox="1"/>
          <p:nvPr/>
        </p:nvSpPr>
        <p:spPr>
          <a:xfrm>
            <a:off x="587995" y="1493580"/>
            <a:ext cx="11325497" cy="44542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400" i="1" dirty="0">
                <a:solidFill>
                  <a:schemeClr val="bg1"/>
                </a:solidFill>
                <a:latin typeface="Berlin Sans FB" panose="020E0602020502020306" pitchFamily="34" charset="0"/>
              </a:rPr>
              <a:t>CDR Identification (IMGT)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/>
                </a:solidFill>
                <a:latin typeface="Berlin Sans FB" panose="020E0602020502020306" pitchFamily="34" charset="0"/>
              </a:rPr>
              <a:t>Uploaded antibody sequences to IMGT tools.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/>
                </a:solidFill>
                <a:latin typeface="Berlin Sans FB" panose="020E0602020502020306" pitchFamily="34" charset="0"/>
              </a:rPr>
              <a:t>Identified CDR regions for heavy and light chains.</a:t>
            </a:r>
          </a:p>
          <a:p>
            <a:pPr>
              <a:lnSpc>
                <a:spcPct val="150000"/>
              </a:lnSpc>
            </a:pPr>
            <a:endParaRPr lang="en-US" sz="2400" dirty="0">
              <a:solidFill>
                <a:schemeClr val="bg1"/>
              </a:solidFill>
              <a:latin typeface="Berlin Sans FB" panose="020E0602020502020306" pitchFamily="34" charset="0"/>
            </a:endParaRPr>
          </a:p>
          <a:p>
            <a:pPr>
              <a:lnSpc>
                <a:spcPct val="150000"/>
              </a:lnSpc>
            </a:pPr>
            <a:r>
              <a:rPr lang="en-US" sz="2400" i="1" dirty="0">
                <a:solidFill>
                  <a:schemeClr val="bg1"/>
                </a:solidFill>
                <a:latin typeface="Berlin Sans FB" panose="020E0602020502020306" pitchFamily="34" charset="0"/>
              </a:rPr>
              <a:t>Sequence Design (</a:t>
            </a:r>
            <a:r>
              <a:rPr lang="en-US" sz="2400" i="1" dirty="0" err="1">
                <a:solidFill>
                  <a:schemeClr val="bg1"/>
                </a:solidFill>
                <a:latin typeface="Berlin Sans FB" panose="020E0602020502020306" pitchFamily="34" charset="0"/>
              </a:rPr>
              <a:t>ProteinMPNN</a:t>
            </a:r>
            <a:r>
              <a:rPr lang="en-US" sz="2400" i="1" dirty="0">
                <a:solidFill>
                  <a:schemeClr val="bg1"/>
                </a:solidFill>
                <a:latin typeface="Berlin Sans FB" panose="020E0602020502020306" pitchFamily="34" charset="0"/>
              </a:rPr>
              <a:t>)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/>
                </a:solidFill>
                <a:latin typeface="Berlin Sans FB" panose="020E0602020502020306" pitchFamily="34" charset="0"/>
              </a:rPr>
              <a:t>Used </a:t>
            </a:r>
            <a:r>
              <a:rPr lang="en-US" sz="2400" dirty="0" err="1">
                <a:solidFill>
                  <a:schemeClr val="bg1"/>
                </a:solidFill>
                <a:latin typeface="Berlin Sans FB" panose="020E0602020502020306" pitchFamily="34" charset="0"/>
              </a:rPr>
              <a:t>ProteinMPNN</a:t>
            </a:r>
            <a:r>
              <a:rPr lang="en-US" sz="2400" dirty="0">
                <a:solidFill>
                  <a:schemeClr val="bg1"/>
                </a:solidFill>
                <a:latin typeface="Berlin Sans FB" panose="020E0602020502020306" pitchFamily="34" charset="0"/>
              </a:rPr>
              <a:t> with a custom Python script.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/>
                </a:solidFill>
                <a:latin typeface="Berlin Sans FB" panose="020E0602020502020306" pitchFamily="34" charset="0"/>
              </a:rPr>
              <a:t>CDRs were fixed; only non-CDR regions were allowed to mutate.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/>
                </a:solidFill>
                <a:latin typeface="Berlin Sans FB" panose="020E0602020502020306" pitchFamily="34" charset="0"/>
              </a:rPr>
              <a:t>Generated multiple antibody sequence variants.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DB21A28-7443-B934-2E80-0413953AFC15}"/>
              </a:ext>
            </a:extLst>
          </p:cNvPr>
          <p:cNvSpPr txBox="1">
            <a:spLocks/>
          </p:cNvSpPr>
          <p:nvPr/>
        </p:nvSpPr>
        <p:spPr>
          <a:xfrm>
            <a:off x="3011474" y="506438"/>
            <a:ext cx="6169052" cy="815926"/>
          </a:xfrm>
          <a:prstGeom prst="rect">
            <a:avLst/>
          </a:prstGeom>
          <a:ln w="28575">
            <a:noFill/>
            <a:prstDash val="sysDot"/>
          </a:ln>
        </p:spPr>
        <p:txBody>
          <a:bodyPr vert="horz" lIns="91440" tIns="45720" rIns="91440" bIns="45720" rtlCol="0" anchor="ctr">
            <a:normAutofit/>
          </a:bodyPr>
          <a:lstStyle>
            <a:lvl1pPr algn="ctr">
              <a:lnSpc>
                <a:spcPct val="90000"/>
              </a:lnSpc>
              <a:spcBef>
                <a:spcPct val="0"/>
              </a:spcBef>
              <a:buNone/>
              <a:defRPr sz="4400">
                <a:solidFill>
                  <a:schemeClr val="bg1"/>
                </a:solidFill>
                <a:latin typeface="Bodoni MT" panose="02070603080606020203" pitchFamily="18" charset="0"/>
                <a:ea typeface="+mj-ea"/>
                <a:cs typeface="+mj-cs"/>
              </a:defRPr>
            </a:lvl1pPr>
          </a:lstStyle>
          <a:p>
            <a:r>
              <a:rPr lang="pt-BR" dirty="0">
                <a:latin typeface="Berlin Sans FB" panose="020E0602020502020306" pitchFamily="34" charset="0"/>
              </a:rPr>
              <a:t>CHALLENGE 1</a:t>
            </a:r>
          </a:p>
        </p:txBody>
      </p:sp>
    </p:spTree>
    <p:extLst>
      <p:ext uri="{BB962C8B-B14F-4D97-AF65-F5344CB8AC3E}">
        <p14:creationId xmlns:p14="http://schemas.microsoft.com/office/powerpoint/2010/main" val="9094529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7380AF-A0D5-5372-9D15-537AFA478B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B4EAFB93-9D07-E924-024A-985E4E3BF73B}"/>
              </a:ext>
            </a:extLst>
          </p:cNvPr>
          <p:cNvSpPr txBox="1"/>
          <p:nvPr/>
        </p:nvSpPr>
        <p:spPr>
          <a:xfrm>
            <a:off x="686470" y="1577985"/>
            <a:ext cx="11325497" cy="44542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400" i="1" dirty="0">
                <a:solidFill>
                  <a:schemeClr val="bg1"/>
                </a:solidFill>
                <a:latin typeface="Berlin Sans FB" panose="020E0602020502020306" pitchFamily="34" charset="0"/>
              </a:rPr>
              <a:t>3D Structure Prediction (AlphaFold2 Multimer)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/>
                </a:solidFill>
                <a:latin typeface="Berlin Sans FB" panose="020E0602020502020306" pitchFamily="34" charset="0"/>
              </a:rPr>
              <a:t>Selected one generated variant.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/>
                </a:solidFill>
                <a:latin typeface="Berlin Sans FB" panose="020E0602020502020306" pitchFamily="34" charset="0"/>
              </a:rPr>
              <a:t>Submitted heavy chain + light chain + antigen sequences to AlphaFold Multimer.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/>
                </a:solidFill>
                <a:latin typeface="Berlin Sans FB" panose="020E0602020502020306" pitchFamily="34" charset="0"/>
              </a:rPr>
              <a:t>Obtained predicted 3D complex structures with confidence scores.</a:t>
            </a:r>
          </a:p>
          <a:p>
            <a:pPr>
              <a:lnSpc>
                <a:spcPct val="150000"/>
              </a:lnSpc>
            </a:pPr>
            <a:endParaRPr lang="en-US" sz="2400" dirty="0">
              <a:solidFill>
                <a:schemeClr val="bg1"/>
              </a:solidFill>
              <a:latin typeface="Berlin Sans FB" panose="020E0602020502020306" pitchFamily="34" charset="0"/>
            </a:endParaRPr>
          </a:p>
          <a:p>
            <a:pPr>
              <a:lnSpc>
                <a:spcPct val="150000"/>
              </a:lnSpc>
            </a:pPr>
            <a:r>
              <a:rPr lang="en-US" sz="2400" i="1" dirty="0">
                <a:solidFill>
                  <a:schemeClr val="bg1"/>
                </a:solidFill>
                <a:latin typeface="Berlin Sans FB" panose="020E0602020502020306" pitchFamily="34" charset="0"/>
              </a:rPr>
              <a:t>Scoring &amp; Evaluation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/>
                </a:solidFill>
                <a:latin typeface="Berlin Sans FB" panose="020E0602020502020306" pitchFamily="34" charset="0"/>
              </a:rPr>
              <a:t>Evaluated generated complexes using the scoring pipeline.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/>
                </a:solidFill>
                <a:latin typeface="Berlin Sans FB" panose="020E0602020502020306" pitchFamily="34" charset="0"/>
              </a:rPr>
              <a:t>Compared structural quality and interaction scores.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BC822F0-68BD-56AE-642B-FD55D58A5DE5}"/>
              </a:ext>
            </a:extLst>
          </p:cNvPr>
          <p:cNvSpPr txBox="1">
            <a:spLocks/>
          </p:cNvSpPr>
          <p:nvPr/>
        </p:nvSpPr>
        <p:spPr>
          <a:xfrm>
            <a:off x="3011474" y="506438"/>
            <a:ext cx="6169052" cy="815926"/>
          </a:xfrm>
          <a:prstGeom prst="rect">
            <a:avLst/>
          </a:prstGeom>
          <a:ln w="28575">
            <a:noFill/>
            <a:prstDash val="sysDot"/>
          </a:ln>
        </p:spPr>
        <p:txBody>
          <a:bodyPr vert="horz" lIns="91440" tIns="45720" rIns="91440" bIns="45720" rtlCol="0" anchor="ctr">
            <a:normAutofit/>
          </a:bodyPr>
          <a:lstStyle>
            <a:lvl1pPr algn="ctr">
              <a:lnSpc>
                <a:spcPct val="90000"/>
              </a:lnSpc>
              <a:spcBef>
                <a:spcPct val="0"/>
              </a:spcBef>
              <a:buNone/>
              <a:defRPr sz="4400">
                <a:solidFill>
                  <a:schemeClr val="bg1"/>
                </a:solidFill>
                <a:latin typeface="Bodoni MT" panose="02070603080606020203" pitchFamily="18" charset="0"/>
                <a:ea typeface="+mj-ea"/>
                <a:cs typeface="+mj-cs"/>
              </a:defRPr>
            </a:lvl1pPr>
          </a:lstStyle>
          <a:p>
            <a:r>
              <a:rPr lang="pt-BR" dirty="0">
                <a:latin typeface="Berlin Sans FB" panose="020E0602020502020306" pitchFamily="34" charset="0"/>
              </a:rPr>
              <a:t>CHALLENGE 1</a:t>
            </a:r>
          </a:p>
        </p:txBody>
      </p:sp>
    </p:spTree>
    <p:extLst>
      <p:ext uri="{BB962C8B-B14F-4D97-AF65-F5344CB8AC3E}">
        <p14:creationId xmlns:p14="http://schemas.microsoft.com/office/powerpoint/2010/main" val="159533682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7756DD-DDC8-6C82-1FE2-EAD55B9B6F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C411BF25-567A-65DB-6D91-7B21B1AC7574}"/>
              </a:ext>
            </a:extLst>
          </p:cNvPr>
          <p:cNvSpPr txBox="1"/>
          <p:nvPr/>
        </p:nvSpPr>
        <p:spPr>
          <a:xfrm>
            <a:off x="672401" y="1859339"/>
            <a:ext cx="11325497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400" i="1" dirty="0">
                <a:solidFill>
                  <a:schemeClr val="bg1"/>
                </a:solidFill>
                <a:latin typeface="Berlin Sans FB" panose="020E0602020502020306" pitchFamily="34" charset="0"/>
              </a:rPr>
              <a:t>Epitope</a:t>
            </a: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/>
                </a:solidFill>
                <a:latin typeface="Berlin Sans FB" panose="020E0602020502020306" pitchFamily="34" charset="0"/>
              </a:rPr>
              <a:t>The PD-1 structure (PDB ID: 5IUS) was obtained from the Protein Data Bank. </a:t>
            </a: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/>
                </a:solidFill>
                <a:latin typeface="Berlin Sans FB" panose="020E0602020502020306" pitchFamily="34" charset="0"/>
              </a:rPr>
              <a:t>The structure was visualized in </a:t>
            </a:r>
            <a:r>
              <a:rPr lang="en-US" sz="2400" dirty="0" err="1">
                <a:solidFill>
                  <a:schemeClr val="bg1"/>
                </a:solidFill>
                <a:latin typeface="Berlin Sans FB" panose="020E0602020502020306" pitchFamily="34" charset="0"/>
              </a:rPr>
              <a:t>PyMOL</a:t>
            </a:r>
            <a:r>
              <a:rPr lang="en-US" sz="2400" dirty="0">
                <a:solidFill>
                  <a:schemeClr val="bg1"/>
                </a:solidFill>
                <a:latin typeface="Berlin Sans FB" panose="020E0602020502020306" pitchFamily="34" charset="0"/>
              </a:rPr>
              <a:t>, all non-relevant chains were removed, and only the epitope-binding region was retained. </a:t>
            </a: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/>
                </a:solidFill>
                <a:latin typeface="Berlin Sans FB" panose="020E0602020502020306" pitchFamily="34" charset="0"/>
              </a:rPr>
              <a:t>The processed structure was saved for further analysis.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23A00AB-592C-02B3-8269-2F7B26AE5FB2}"/>
              </a:ext>
            </a:extLst>
          </p:cNvPr>
          <p:cNvSpPr txBox="1">
            <a:spLocks/>
          </p:cNvSpPr>
          <p:nvPr/>
        </p:nvSpPr>
        <p:spPr>
          <a:xfrm>
            <a:off x="3011474" y="506438"/>
            <a:ext cx="6169052" cy="815926"/>
          </a:xfrm>
          <a:prstGeom prst="rect">
            <a:avLst/>
          </a:prstGeom>
          <a:ln w="28575">
            <a:noFill/>
            <a:prstDash val="sysDot"/>
          </a:ln>
        </p:spPr>
        <p:txBody>
          <a:bodyPr vert="horz" lIns="91440" tIns="45720" rIns="91440" bIns="45720" rtlCol="0" anchor="ctr">
            <a:normAutofit/>
          </a:bodyPr>
          <a:lstStyle>
            <a:lvl1pPr algn="ctr">
              <a:lnSpc>
                <a:spcPct val="90000"/>
              </a:lnSpc>
              <a:spcBef>
                <a:spcPct val="0"/>
              </a:spcBef>
              <a:buNone/>
              <a:defRPr sz="4400">
                <a:solidFill>
                  <a:schemeClr val="bg1"/>
                </a:solidFill>
                <a:latin typeface="Bodoni MT" panose="02070603080606020203" pitchFamily="18" charset="0"/>
                <a:ea typeface="+mj-ea"/>
                <a:cs typeface="+mj-cs"/>
              </a:defRPr>
            </a:lvl1pPr>
          </a:lstStyle>
          <a:p>
            <a:r>
              <a:rPr lang="pt-BR" dirty="0">
                <a:latin typeface="Berlin Sans FB" panose="020E0602020502020306" pitchFamily="34" charset="0"/>
              </a:rPr>
              <a:t>CHALLENGE 2</a:t>
            </a:r>
          </a:p>
        </p:txBody>
      </p:sp>
    </p:spTree>
    <p:extLst>
      <p:ext uri="{BB962C8B-B14F-4D97-AF65-F5344CB8AC3E}">
        <p14:creationId xmlns:p14="http://schemas.microsoft.com/office/powerpoint/2010/main" val="232054595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658334" y="1607736"/>
            <a:ext cx="11325497" cy="42473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400" i="1" dirty="0">
                <a:solidFill>
                  <a:schemeClr val="bg1"/>
                </a:solidFill>
                <a:latin typeface="Berlin Sans FB" panose="020E0602020502020306" pitchFamily="34" charset="0"/>
              </a:rPr>
              <a:t>Antibody</a:t>
            </a:r>
          </a:p>
          <a:p>
            <a:pPr lvl="1">
              <a:lnSpc>
                <a:spcPct val="150000"/>
              </a:lnSpc>
            </a:pPr>
            <a:r>
              <a:rPr lang="en-US" sz="2400" dirty="0">
                <a:solidFill>
                  <a:schemeClr val="bg1"/>
                </a:solidFill>
                <a:latin typeface="Berlin Sans FB" panose="020E0602020502020306" pitchFamily="34" charset="0"/>
              </a:rPr>
              <a:t>Antibody sequences were obtained from IGMT Gene DB.</a:t>
            </a:r>
          </a:p>
          <a:p>
            <a:pPr marL="914400" lvl="1" indent="-457200">
              <a:lnSpc>
                <a:spcPct val="150000"/>
              </a:lnSpc>
              <a:buFont typeface="+mj-lt"/>
              <a:buAutoNum type="arabicPeriod"/>
            </a:pPr>
            <a:r>
              <a:rPr lang="en-US" sz="2400" dirty="0">
                <a:solidFill>
                  <a:schemeClr val="bg1"/>
                </a:solidFill>
                <a:latin typeface="Berlin Sans FB" panose="020E0602020502020306" pitchFamily="34" charset="0"/>
              </a:rPr>
              <a:t>The heavy chain variable region was taken from IGHV3-23.</a:t>
            </a:r>
          </a:p>
          <a:p>
            <a:pPr marL="914400" lvl="1" indent="-457200">
              <a:lnSpc>
                <a:spcPct val="150000"/>
              </a:lnSpc>
              <a:buFont typeface="+mj-lt"/>
              <a:buAutoNum type="arabicPeriod"/>
            </a:pPr>
            <a:r>
              <a:rPr lang="en-US" sz="2400" dirty="0">
                <a:solidFill>
                  <a:schemeClr val="bg1"/>
                </a:solidFill>
                <a:latin typeface="Berlin Sans FB" panose="020E0602020502020306" pitchFamily="34" charset="0"/>
              </a:rPr>
              <a:t>The light chain variable region was taken from IGKV1-39.</a:t>
            </a:r>
          </a:p>
          <a:p>
            <a:pPr marL="914400" lvl="1" indent="-457200">
              <a:lnSpc>
                <a:spcPct val="150000"/>
              </a:lnSpc>
              <a:buFont typeface="+mj-lt"/>
              <a:buAutoNum type="arabicPeriod"/>
            </a:pPr>
            <a:r>
              <a:rPr lang="en-US" sz="2400" dirty="0">
                <a:solidFill>
                  <a:schemeClr val="bg1"/>
                </a:solidFill>
                <a:latin typeface="Berlin Sans FB" panose="020E0602020502020306" pitchFamily="34" charset="0"/>
              </a:rPr>
              <a:t>The J region sequences were obtained from </a:t>
            </a:r>
            <a:r>
              <a:rPr lang="en-US" sz="2400" dirty="0" err="1">
                <a:solidFill>
                  <a:schemeClr val="bg1"/>
                </a:solidFill>
                <a:latin typeface="Berlin Sans FB" panose="020E0602020502020306" pitchFamily="34" charset="0"/>
              </a:rPr>
              <a:t>UniProt</a:t>
            </a:r>
            <a:r>
              <a:rPr lang="en-US" sz="2400" dirty="0">
                <a:solidFill>
                  <a:schemeClr val="bg1"/>
                </a:solidFill>
                <a:latin typeface="Berlin Sans FB" panose="020E0602020502020306" pitchFamily="34" charset="0"/>
              </a:rPr>
              <a:t> and appended to their respective variable regions.</a:t>
            </a:r>
          </a:p>
          <a:p>
            <a:pPr marL="914400" lvl="1" indent="-457200">
              <a:lnSpc>
                <a:spcPct val="150000"/>
              </a:lnSpc>
              <a:buFont typeface="+mj-lt"/>
              <a:buAutoNum type="arabicPeriod"/>
            </a:pPr>
            <a:r>
              <a:rPr lang="en-US" sz="2400" dirty="0">
                <a:solidFill>
                  <a:schemeClr val="bg1"/>
                </a:solidFill>
                <a:latin typeface="Berlin Sans FB" panose="020E0602020502020306" pitchFamily="34" charset="0"/>
              </a:rPr>
              <a:t>The final heavy and light chain sequences were saved and visualized in </a:t>
            </a:r>
            <a:r>
              <a:rPr lang="en-US" sz="2400" dirty="0" err="1">
                <a:solidFill>
                  <a:schemeClr val="bg1"/>
                </a:solidFill>
                <a:latin typeface="Berlin Sans FB" panose="020E0602020502020306" pitchFamily="34" charset="0"/>
              </a:rPr>
              <a:t>PyMOL</a:t>
            </a:r>
            <a:r>
              <a:rPr lang="en-US" sz="2400" dirty="0">
                <a:solidFill>
                  <a:schemeClr val="bg1"/>
                </a:solidFill>
                <a:latin typeface="Berlin Sans FB" panose="020E0602020502020306" pitchFamily="34" charset="0"/>
              </a:rPr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0BCFDB93-C27A-E805-1230-3D34901FC2D8}"/>
              </a:ext>
            </a:extLst>
          </p:cNvPr>
          <p:cNvSpPr txBox="1">
            <a:spLocks/>
          </p:cNvSpPr>
          <p:nvPr/>
        </p:nvSpPr>
        <p:spPr>
          <a:xfrm>
            <a:off x="3011474" y="506438"/>
            <a:ext cx="6169052" cy="815926"/>
          </a:xfrm>
          <a:prstGeom prst="rect">
            <a:avLst/>
          </a:prstGeom>
          <a:ln w="28575">
            <a:noFill/>
            <a:prstDash val="sysDot"/>
          </a:ln>
        </p:spPr>
        <p:txBody>
          <a:bodyPr vert="horz" lIns="91440" tIns="45720" rIns="91440" bIns="45720" rtlCol="0" anchor="ctr">
            <a:normAutofit/>
          </a:bodyPr>
          <a:lstStyle>
            <a:lvl1pPr algn="ctr">
              <a:lnSpc>
                <a:spcPct val="90000"/>
              </a:lnSpc>
              <a:spcBef>
                <a:spcPct val="0"/>
              </a:spcBef>
              <a:buNone/>
              <a:defRPr sz="4400">
                <a:solidFill>
                  <a:schemeClr val="bg1"/>
                </a:solidFill>
                <a:latin typeface="Bodoni MT" panose="02070603080606020203" pitchFamily="18" charset="0"/>
                <a:ea typeface="+mj-ea"/>
                <a:cs typeface="+mj-cs"/>
              </a:defRPr>
            </a:lvl1pPr>
          </a:lstStyle>
          <a:p>
            <a:r>
              <a:rPr lang="pt-BR" dirty="0">
                <a:latin typeface="Berlin Sans FB" panose="020E0602020502020306" pitchFamily="34" charset="0"/>
              </a:rPr>
              <a:t>CHALLENGE 2</a:t>
            </a:r>
          </a:p>
        </p:txBody>
      </p:sp>
    </p:spTree>
    <p:extLst>
      <p:ext uri="{BB962C8B-B14F-4D97-AF65-F5344CB8AC3E}">
        <p14:creationId xmlns:p14="http://schemas.microsoft.com/office/powerpoint/2010/main" val="182133377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3FD299-8DAC-1BB9-E342-75A6707C98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BF25E559-822A-87D9-2B19-59FF3E490689}"/>
              </a:ext>
            </a:extLst>
          </p:cNvPr>
          <p:cNvSpPr txBox="1"/>
          <p:nvPr/>
        </p:nvSpPr>
        <p:spPr>
          <a:xfrm>
            <a:off x="433250" y="1481907"/>
            <a:ext cx="11325497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400" i="1" dirty="0">
                <a:solidFill>
                  <a:schemeClr val="bg1"/>
                </a:solidFill>
                <a:latin typeface="Berlin Sans FB" panose="020E0602020502020306" pitchFamily="34" charset="0"/>
              </a:rPr>
              <a:t>Antibody Builder</a:t>
            </a: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/>
                </a:solidFill>
                <a:latin typeface="Berlin Sans FB" panose="020E0602020502020306" pitchFamily="34" charset="0"/>
              </a:rPr>
              <a:t>The finalized heavy and light chain sequences were submitted to </a:t>
            </a:r>
            <a:r>
              <a:rPr lang="en-US" sz="2400" dirty="0" err="1">
                <a:solidFill>
                  <a:schemeClr val="bg1"/>
                </a:solidFill>
                <a:latin typeface="Berlin Sans FB" panose="020E0602020502020306" pitchFamily="34" charset="0"/>
              </a:rPr>
              <a:t>ABodyBuilder</a:t>
            </a:r>
            <a:r>
              <a:rPr lang="en-US" sz="2400" dirty="0">
                <a:solidFill>
                  <a:schemeClr val="bg1"/>
                </a:solidFill>
                <a:latin typeface="Berlin Sans FB" panose="020E0602020502020306" pitchFamily="34" charset="0"/>
              </a:rPr>
              <a:t> using the Chothia numbering scheme. </a:t>
            </a: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/>
                </a:solidFill>
                <a:latin typeface="Berlin Sans FB" panose="020E0602020502020306" pitchFamily="34" charset="0"/>
              </a:rPr>
              <a:t>The generated antibody structure was downloaded and saved.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B3B1E44-C5A8-2D85-A6A0-E705C7DF8658}"/>
              </a:ext>
            </a:extLst>
          </p:cNvPr>
          <p:cNvSpPr txBox="1">
            <a:spLocks/>
          </p:cNvSpPr>
          <p:nvPr/>
        </p:nvSpPr>
        <p:spPr>
          <a:xfrm>
            <a:off x="3011473" y="0"/>
            <a:ext cx="6169052" cy="1325563"/>
          </a:xfrm>
          <a:prstGeom prst="rect">
            <a:avLst/>
          </a:prstGeom>
          <a:ln w="28575">
            <a:noFill/>
            <a:prstDash val="sysDot"/>
          </a:ln>
        </p:spPr>
        <p:txBody>
          <a:bodyPr vert="horz" lIns="91440" tIns="45720" rIns="91440" bIns="45720" rtlCol="0" anchor="ctr">
            <a:normAutofit/>
          </a:bodyPr>
          <a:lstStyle>
            <a:lvl1pPr algn="ctr">
              <a:lnSpc>
                <a:spcPct val="90000"/>
              </a:lnSpc>
              <a:spcBef>
                <a:spcPct val="0"/>
              </a:spcBef>
              <a:buNone/>
              <a:defRPr sz="4400">
                <a:solidFill>
                  <a:schemeClr val="bg1"/>
                </a:solidFill>
                <a:latin typeface="Bodoni MT" panose="02070603080606020203" pitchFamily="18" charset="0"/>
                <a:ea typeface="+mj-ea"/>
                <a:cs typeface="+mj-cs"/>
              </a:defRPr>
            </a:lvl1pPr>
          </a:lstStyle>
          <a:p>
            <a:r>
              <a:rPr lang="pt-BR" dirty="0">
                <a:latin typeface="Berlin Sans FB" panose="020E0602020502020306" pitchFamily="34" charset="0"/>
              </a:rPr>
              <a:t>CHALLENGE 2</a:t>
            </a:r>
          </a:p>
        </p:txBody>
      </p:sp>
    </p:spTree>
    <p:extLst>
      <p:ext uri="{BB962C8B-B14F-4D97-AF65-F5344CB8AC3E}">
        <p14:creationId xmlns:p14="http://schemas.microsoft.com/office/powerpoint/2010/main" val="229809401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925727-2B2E-7590-D029-8B4F3BD48E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6E2B7FF3-F266-2F9F-486E-4E79633C00F4}"/>
              </a:ext>
            </a:extLst>
          </p:cNvPr>
          <p:cNvSpPr txBox="1"/>
          <p:nvPr/>
        </p:nvSpPr>
        <p:spPr>
          <a:xfrm>
            <a:off x="433250" y="989537"/>
            <a:ext cx="11325497" cy="57246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600" i="1" dirty="0">
                <a:solidFill>
                  <a:schemeClr val="bg1"/>
                </a:solidFill>
                <a:latin typeface="Berlin Sans FB" panose="020E0602020502020306" pitchFamily="34" charset="0"/>
              </a:rPr>
              <a:t>3D Structure</a:t>
            </a:r>
          </a:p>
          <a:p>
            <a:pPr lvl="1">
              <a:lnSpc>
                <a:spcPct val="150000"/>
              </a:lnSpc>
            </a:pPr>
            <a:r>
              <a:rPr lang="en-US" sz="2600" dirty="0">
                <a:solidFill>
                  <a:schemeClr val="bg1"/>
                </a:solidFill>
                <a:latin typeface="Berlin Sans FB" panose="020E0602020502020306" pitchFamily="34" charset="0"/>
              </a:rPr>
              <a:t>The AlphaFold2-Multimer pipeline was used to predict the 3D structure of the antibody–antigen complex.</a:t>
            </a:r>
          </a:p>
          <a:p>
            <a:pPr marL="971550" lvl="1" indent="-514350">
              <a:lnSpc>
                <a:spcPct val="150000"/>
              </a:lnSpc>
              <a:buFont typeface="+mj-lt"/>
              <a:buAutoNum type="arabicPeriod"/>
            </a:pPr>
            <a:r>
              <a:rPr lang="en-US" sz="2600" dirty="0">
                <a:solidFill>
                  <a:schemeClr val="bg1"/>
                </a:solidFill>
                <a:latin typeface="Berlin Sans FB" panose="020E0602020502020306" pitchFamily="34" charset="0"/>
              </a:rPr>
              <a:t>Heavy chain, light chain, and antigen sequences were provided as input.</a:t>
            </a:r>
          </a:p>
          <a:p>
            <a:pPr marL="971550" lvl="1" indent="-514350">
              <a:lnSpc>
                <a:spcPct val="150000"/>
              </a:lnSpc>
              <a:buFont typeface="+mj-lt"/>
              <a:buAutoNum type="arabicPeriod"/>
            </a:pPr>
            <a:r>
              <a:rPr lang="en-US" sz="2600" dirty="0">
                <a:solidFill>
                  <a:schemeClr val="bg1"/>
                </a:solidFill>
                <a:latin typeface="Berlin Sans FB" panose="020E0602020502020306" pitchFamily="34" charset="0"/>
              </a:rPr>
              <a:t>The antigen sequence corresponded to the extracellular variable region of PD-1, obtained from </a:t>
            </a:r>
            <a:r>
              <a:rPr lang="en-US" sz="2600" dirty="0" err="1">
                <a:solidFill>
                  <a:schemeClr val="bg1"/>
                </a:solidFill>
                <a:latin typeface="Berlin Sans FB" panose="020E0602020502020306" pitchFamily="34" charset="0"/>
              </a:rPr>
              <a:t>UniProt</a:t>
            </a:r>
            <a:r>
              <a:rPr lang="en-US" sz="2600" dirty="0">
                <a:solidFill>
                  <a:schemeClr val="bg1"/>
                </a:solidFill>
                <a:latin typeface="Berlin Sans FB" panose="020E0602020502020306" pitchFamily="34" charset="0"/>
              </a:rPr>
              <a:t>.</a:t>
            </a:r>
          </a:p>
          <a:p>
            <a:pPr marL="971550" lvl="1" indent="-514350">
              <a:lnSpc>
                <a:spcPct val="150000"/>
              </a:lnSpc>
              <a:buFont typeface="+mj-lt"/>
              <a:buAutoNum type="arabicPeriod"/>
            </a:pPr>
            <a:r>
              <a:rPr lang="en-US" sz="2600" dirty="0">
                <a:solidFill>
                  <a:schemeClr val="bg1"/>
                </a:solidFill>
                <a:latin typeface="Berlin Sans FB" panose="020E0602020502020306" pitchFamily="34" charset="0"/>
              </a:rPr>
              <a:t>After execution, the predicted 3D structure was saved and visualized in </a:t>
            </a:r>
            <a:r>
              <a:rPr lang="en-US" sz="2600" dirty="0" err="1">
                <a:solidFill>
                  <a:schemeClr val="bg1"/>
                </a:solidFill>
                <a:latin typeface="Berlin Sans FB" panose="020E0602020502020306" pitchFamily="34" charset="0"/>
              </a:rPr>
              <a:t>PyMOL</a:t>
            </a:r>
            <a:r>
              <a:rPr lang="en-US" sz="2600" dirty="0">
                <a:solidFill>
                  <a:schemeClr val="bg1"/>
                </a:solidFill>
                <a:latin typeface="Berlin Sans FB" panose="020E0602020502020306" pitchFamily="34" charset="0"/>
              </a:rPr>
              <a:t> to examine antibody–antigen interactions.</a:t>
            </a:r>
          </a:p>
          <a:p>
            <a:pPr lvl="1">
              <a:lnSpc>
                <a:spcPct val="150000"/>
              </a:lnSpc>
            </a:pPr>
            <a:endParaRPr lang="en-US" sz="2400" dirty="0">
              <a:solidFill>
                <a:schemeClr val="bg1"/>
              </a:solidFill>
              <a:latin typeface="Berlin Sans FB" panose="020E0602020502020306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635C965-4D8E-ACD3-1C3E-9687E7A38C23}"/>
              </a:ext>
            </a:extLst>
          </p:cNvPr>
          <p:cNvSpPr txBox="1">
            <a:spLocks/>
          </p:cNvSpPr>
          <p:nvPr/>
        </p:nvSpPr>
        <p:spPr>
          <a:xfrm>
            <a:off x="3011473" y="0"/>
            <a:ext cx="6169052" cy="1325563"/>
          </a:xfrm>
          <a:prstGeom prst="rect">
            <a:avLst/>
          </a:prstGeom>
          <a:ln w="28575">
            <a:noFill/>
            <a:prstDash val="sysDot"/>
          </a:ln>
        </p:spPr>
        <p:txBody>
          <a:bodyPr vert="horz" lIns="91440" tIns="45720" rIns="91440" bIns="45720" rtlCol="0" anchor="ctr">
            <a:normAutofit/>
          </a:bodyPr>
          <a:lstStyle>
            <a:lvl1pPr algn="ctr">
              <a:lnSpc>
                <a:spcPct val="90000"/>
              </a:lnSpc>
              <a:spcBef>
                <a:spcPct val="0"/>
              </a:spcBef>
              <a:buNone/>
              <a:defRPr sz="4400">
                <a:solidFill>
                  <a:schemeClr val="bg1"/>
                </a:solidFill>
                <a:latin typeface="Bodoni MT" panose="02070603080606020203" pitchFamily="18" charset="0"/>
                <a:ea typeface="+mj-ea"/>
                <a:cs typeface="+mj-cs"/>
              </a:defRPr>
            </a:lvl1pPr>
          </a:lstStyle>
          <a:p>
            <a:r>
              <a:rPr lang="pt-BR" dirty="0">
                <a:latin typeface="Berlin Sans FB" panose="020E0602020502020306" pitchFamily="34" charset="0"/>
              </a:rPr>
              <a:t>CHALLENGE 2</a:t>
            </a:r>
          </a:p>
        </p:txBody>
      </p:sp>
    </p:spTree>
    <p:extLst>
      <p:ext uri="{BB962C8B-B14F-4D97-AF65-F5344CB8AC3E}">
        <p14:creationId xmlns:p14="http://schemas.microsoft.com/office/powerpoint/2010/main" val="236729270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99CEEF-CB89-E553-7CDF-2AC61CDD8A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pt-BR" dirty="0">
                <a:solidFill>
                  <a:schemeClr val="bg1"/>
                </a:solidFill>
                <a:latin typeface="Berlin Sans FB" panose="020E0602020502020306" pitchFamily="34" charset="0"/>
              </a:rPr>
              <a:t>CHALLENGE 2</a:t>
            </a:r>
            <a:br>
              <a:rPr lang="pt-BR" dirty="0">
                <a:latin typeface="Berlin Sans FB" panose="020E0602020502020306" pitchFamily="34" charset="0"/>
              </a:rPr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C6C52F4-BE78-0481-7D9F-E1553DDC38F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90688"/>
            <a:ext cx="10515600" cy="4351338"/>
          </a:xfrm>
        </p:spPr>
        <p:txBody>
          <a:bodyPr>
            <a:normAutofit fontScale="92500"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en-US" sz="2600" i="1" dirty="0">
                <a:solidFill>
                  <a:schemeClr val="bg1"/>
                </a:solidFill>
                <a:latin typeface="Berlin Sans FB" panose="020E0602020502020306" pitchFamily="34" charset="0"/>
              </a:rPr>
              <a:t>Interface Analysis</a:t>
            </a:r>
          </a:p>
          <a:p>
            <a:pPr marL="457200" lvl="1" indent="0">
              <a:lnSpc>
                <a:spcPct val="150000"/>
              </a:lnSpc>
              <a:buNone/>
            </a:pPr>
            <a:r>
              <a:rPr lang="en-US" sz="2600" dirty="0">
                <a:solidFill>
                  <a:schemeClr val="bg1"/>
                </a:solidFill>
                <a:latin typeface="Berlin Sans FB" panose="020E0602020502020306" pitchFamily="34" charset="0"/>
              </a:rPr>
              <a:t> The antibody–antigen interface area was 244 Å² at a 4 Å distance cutoff.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sz="2600" i="1" dirty="0">
                <a:solidFill>
                  <a:schemeClr val="bg1"/>
                </a:solidFill>
                <a:latin typeface="Berlin Sans FB" panose="020E0602020502020306" pitchFamily="34" charset="0"/>
              </a:rPr>
              <a:t>Metrics Check</a:t>
            </a:r>
          </a:p>
          <a:p>
            <a:pPr lvl="1">
              <a:lnSpc>
                <a:spcPct val="150000"/>
              </a:lnSpc>
            </a:pPr>
            <a:r>
              <a:rPr lang="en-US" sz="2600" dirty="0">
                <a:solidFill>
                  <a:schemeClr val="bg1"/>
                </a:solidFill>
                <a:latin typeface="Berlin Sans FB" panose="020E0602020502020306" pitchFamily="34" charset="0"/>
              </a:rPr>
              <a:t>For binding affinity evaluation, PRODIGY was used. </a:t>
            </a:r>
          </a:p>
          <a:p>
            <a:pPr lvl="1">
              <a:lnSpc>
                <a:spcPct val="150000"/>
              </a:lnSpc>
            </a:pPr>
            <a:r>
              <a:rPr lang="en-US" sz="2600" dirty="0">
                <a:solidFill>
                  <a:schemeClr val="bg1"/>
                </a:solidFill>
                <a:latin typeface="Berlin Sans FB" panose="020E0602020502020306" pitchFamily="34" charset="0"/>
              </a:rPr>
              <a:t>The predicted 3D complex was uploaded, chains were labeled as heavy and light, the temperature was specified, and the analysis was submitted. </a:t>
            </a:r>
          </a:p>
          <a:p>
            <a:pPr lvl="1">
              <a:lnSpc>
                <a:spcPct val="150000"/>
              </a:lnSpc>
            </a:pPr>
            <a:r>
              <a:rPr lang="en-US" sz="2600" dirty="0">
                <a:solidFill>
                  <a:schemeClr val="bg1"/>
                </a:solidFill>
                <a:latin typeface="Berlin Sans FB" panose="020E0602020502020306" pitchFamily="34" charset="0"/>
              </a:rPr>
              <a:t>The PRODIGY score was recorded.</a:t>
            </a:r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5323962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F8A723-1AEF-AB3D-E2F4-4CD878DB75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4AE14D-A987-83A9-CAD7-A0B8AE21CE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pt-BR" dirty="0">
                <a:solidFill>
                  <a:schemeClr val="bg1"/>
                </a:solidFill>
                <a:latin typeface="Berlin Sans FB" panose="020E0602020502020306" pitchFamily="34" charset="0"/>
              </a:rPr>
              <a:t>CONCLUSION</a:t>
            </a:r>
            <a:br>
              <a:rPr lang="pt-BR" dirty="0">
                <a:latin typeface="Berlin Sans FB" panose="020E0602020502020306" pitchFamily="34" charset="0"/>
              </a:rPr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D9EC2C5-5CC6-BBF4-8D0C-0A3800064D8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90688"/>
            <a:ext cx="10515600" cy="4351338"/>
          </a:xfrm>
        </p:spPr>
        <p:txBody>
          <a:bodyPr>
            <a:normAutofit/>
          </a:bodyPr>
          <a:lstStyle/>
          <a:p>
            <a:pPr algn="just">
              <a:lnSpc>
                <a:spcPct val="150000"/>
              </a:lnSpc>
            </a:pPr>
            <a:r>
              <a:rPr lang="en-US" sz="2400" dirty="0">
                <a:solidFill>
                  <a:schemeClr val="bg1"/>
                </a:solidFill>
                <a:latin typeface="Berlin Sans FB" panose="020E0602020502020306" pitchFamily="34" charset="0"/>
              </a:rPr>
              <a:t>We successfully learned and implemented the workflow to generate antibody-antigen 3D structures using sequence databases, antibody modeling tools, AlphaFold2 multimer, and interaction analysis in </a:t>
            </a:r>
            <a:r>
              <a:rPr lang="en-US" sz="2400" dirty="0" err="1">
                <a:solidFill>
                  <a:schemeClr val="bg1"/>
                </a:solidFill>
                <a:latin typeface="Berlin Sans FB" panose="020E0602020502020306" pitchFamily="34" charset="0"/>
              </a:rPr>
              <a:t>PyMOL</a:t>
            </a:r>
            <a:r>
              <a:rPr lang="en-US" sz="2400" dirty="0">
                <a:solidFill>
                  <a:schemeClr val="bg1"/>
                </a:solidFill>
                <a:latin typeface="Berlin Sans FB" panose="020E0602020502020306" pitchFamily="34" charset="0"/>
              </a:rPr>
              <a:t>. </a:t>
            </a:r>
          </a:p>
          <a:p>
            <a:pPr algn="just">
              <a:lnSpc>
                <a:spcPct val="150000"/>
              </a:lnSpc>
            </a:pPr>
            <a:r>
              <a:rPr lang="en-US" sz="2400" dirty="0">
                <a:solidFill>
                  <a:schemeClr val="bg1"/>
                </a:solidFill>
                <a:latin typeface="Berlin Sans FB" panose="020E0602020502020306" pitchFamily="34" charset="0"/>
              </a:rPr>
              <a:t>Although we were not able to optimize the structures for improved binding scores, this HACKATHON helped us understand the complete structure generation and evaluation pipeline.</a:t>
            </a:r>
            <a:endParaRPr lang="en-US" dirty="0">
              <a:solidFill>
                <a:schemeClr val="bg1"/>
              </a:solidFill>
              <a:latin typeface="Berlin Sans FB" panose="020E0602020502020306" pitchFamily="34" charset="0"/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205645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AAAACD-A4EB-76FA-9AB2-D0877D170D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6D4319-57E4-D759-22B7-9B405F87C0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42005" y="2766218"/>
            <a:ext cx="5079609" cy="1325563"/>
          </a:xfrm>
          <a:ln w="28575">
            <a:solidFill>
              <a:schemeClr val="bg1"/>
            </a:solidFill>
            <a:prstDash val="dash"/>
          </a:ln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pt-BR" dirty="0">
                <a:solidFill>
                  <a:schemeClr val="bg1"/>
                </a:solidFill>
                <a:latin typeface="Berlin Sans FB" panose="020E0602020502020306" pitchFamily="34" charset="0"/>
              </a:rPr>
              <a:t>THANK YOU</a:t>
            </a:r>
            <a:endParaRPr lang="en-US" dirty="0">
              <a:solidFill>
                <a:schemeClr val="bg1"/>
              </a:solidFill>
              <a:latin typeface="Berlin Sans FB" panose="020E0602020502020306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5299976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63</TotalTime>
  <Words>498</Words>
  <Application>Microsoft Office PowerPoint</Application>
  <PresentationFormat>Widescreen</PresentationFormat>
  <Paragraphs>61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6" baseType="lpstr">
      <vt:lpstr>Arial</vt:lpstr>
      <vt:lpstr>Berlin Sans FB</vt:lpstr>
      <vt:lpstr>Calibri</vt:lpstr>
      <vt:lpstr>Calibri Light</vt:lpstr>
      <vt:lpstr>Office Theme</vt:lpstr>
      <vt:lpstr>De Novo Antibody Design Hackathon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CHALLENGE 2 </vt:lpstr>
      <vt:lpstr>CONCLUSION 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1234</dc:creator>
  <cp:lastModifiedBy>Varsha S</cp:lastModifiedBy>
  <cp:revision>6</cp:revision>
  <dcterms:created xsi:type="dcterms:W3CDTF">2025-12-14T04:59:56Z</dcterms:created>
  <dcterms:modified xsi:type="dcterms:W3CDTF">2025-12-14T06:22:10Z</dcterms:modified>
</cp:coreProperties>
</file>